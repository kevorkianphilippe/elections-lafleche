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Lemoigne</c:v>
                </c:pt>
              </c:strCache>
            </c:strRef>
          </c:tx>
          <c:spPr>
            <a:solidFill>
              <a:srgbClr val="5C6B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Europeennes</c:v>
                </c:pt>
                <c:pt idx="1">
                  <c:v>Legislatives</c:v>
                </c:pt>
                <c:pt idx="2">
                  <c:v>Presidentielle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38.4</c:v>
                </c:pt>
                <c:pt idx="2">
                  <c:v>30.9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D7-4C99-80F6-CD6F140FE0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 Silva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Europeennes</c:v>
                </c:pt>
                <c:pt idx="1">
                  <c:v>Legislatives</c:v>
                </c:pt>
                <c:pt idx="2">
                  <c:v>Presidentielle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24.6</c:v>
                </c:pt>
                <c:pt idx="1">
                  <c:v>27.1</c:v>
                </c:pt>
                <c:pt idx="2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D7-4C99-80F6-CD6F140FE0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Grelet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Europeennes</c:v>
                </c:pt>
                <c:pt idx="1">
                  <c:v>Legislatives</c:v>
                </c:pt>
                <c:pt idx="2">
                  <c:v>Presidentielle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37.4</c:v>
                </c:pt>
                <c:pt idx="1">
                  <c:v>34.5</c:v>
                </c:pt>
                <c:pt idx="2">
                  <c:v>38.799999999999997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D7-4C99-80F6-CD6F140FE0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D5A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4365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17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Municipales La Fleche 2026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 err="1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</a:t>
            </a:r>
            <a:r>
              <a:rPr lang="en-US" sz="280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Prospective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Projections Monte Carlo basees sur 3 scenarios electoraux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10 267 inscrits</a:t>
            </a: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17 bureaux de vote  |  2 000 iterations Monte Carlo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274320" cy="274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Lemoigne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2743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Silva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657600"/>
            <a:ext cx="274320" cy="274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Grelet-Certenais</a:t>
            </a:r>
            <a:endParaRPr lang="en-US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C57C447-62B5-35C3-8003-7F28D9B89442}"/>
              </a:ext>
            </a:extLst>
          </p:cNvPr>
          <p:cNvSpPr txBox="1"/>
          <p:nvPr/>
        </p:nvSpPr>
        <p:spPr>
          <a:xfrm>
            <a:off x="657094" y="2499098"/>
            <a:ext cx="2909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Auteur : Philippe KEVORKIAN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05156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25880"/>
            <a:ext cx="548640" cy="548640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incertain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vainqueur depend du scenario de mobilisation: Lemoigne favori si dynamique RN (59-94%), Grelet favorite si dynamique gauche-centre (99%)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31720"/>
            <a:ext cx="73152" cy="10515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560320"/>
            <a:ext cx="548640" cy="5486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2404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tour certain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scenario ne donne de majorite absolue au 1er tour. Probabilite de 2nd tour : 100% dans les 3 scenarios.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66160"/>
            <a:ext cx="73152" cy="10515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794760"/>
            <a:ext cx="548640" cy="54864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3639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bureaux decisifs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bureaux 4, 17, 12, 5, 11, 16, 7 representent 41% de l'electorat et determineront l'issue du scrutin.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3 scenarios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projetes (%) avec intervalles de confiance a 80%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057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Lemoigne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Silva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Grelet-Certenais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tour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Europeennes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[36-40]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[23-27]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[35-40]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A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Legislatives 2024 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[37-41]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[24-31]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[31-38]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A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Presidentielle 2022 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[29-33]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[27-34]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[35-42]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A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57200" y="3200400"/>
          <a:ext cx="8229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Probabilites de victoire par scenario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1965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Lemoigne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Silva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Europeennes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Legislatives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Presidentielle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Europeennes 2024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0" y="3154680"/>
            <a:ext cx="3075127" cy="274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3154680"/>
            <a:ext cx="30751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59%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75527" y="3154680"/>
            <a:ext cx="2136953" cy="274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9" name="Text 6"/>
          <p:cNvSpPr/>
          <p:nvPr/>
        </p:nvSpPr>
        <p:spPr>
          <a:xfrm>
            <a:off x="6275527" y="3154680"/>
            <a:ext cx="21369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41%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Legislatives 2024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3657600"/>
            <a:ext cx="4899355" cy="274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3657600"/>
            <a:ext cx="48993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94%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9755" y="3657600"/>
            <a:ext cx="312725" cy="274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4" name="Text 11"/>
          <p:cNvSpPr/>
          <p:nvPr/>
        </p:nvSpPr>
        <p:spPr>
          <a:xfrm>
            <a:off x="8099755" y="3657600"/>
            <a:ext cx="3127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Presidentielle 2022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0" y="4160520"/>
            <a:ext cx="52121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Shape 14"/>
          <p:cNvSpPr/>
          <p:nvPr/>
        </p:nvSpPr>
        <p:spPr>
          <a:xfrm>
            <a:off x="3252521" y="4160520"/>
            <a:ext cx="5159959" cy="274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8" name="Text 15"/>
          <p:cNvSpPr/>
          <p:nvPr/>
        </p:nvSpPr>
        <p:spPr>
          <a:xfrm>
            <a:off x="3252521" y="4160520"/>
            <a:ext cx="5159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99%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ponderee : avantage Lemoigne si mobilisation RN maintenue au niveau 2024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cle : la mobilisation 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RN a La Fleche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Europeennes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Legislatives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73152" cy="182880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RN vers Lemoigne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75-78%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electeurs RN votent Lemoigne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RN maintient sa dynamique 2024, Lemoigne est nettement favori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retour a la configuration 2022 (RN 25%), Grelet reprend l'avantage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mobilisation RN est LA variable determinante du scrutin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bureaux strategiques prioritaires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l'electorat — Classes par potentiel de basculement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Grelet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3D202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4 = cible prioritaire : plus haute volatilite (7.4) et score Grelet 2020 le plus bas (58%)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demographiques et enjeux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234440"/>
            <a:ext cx="914400" cy="274320"/>
          </a:xfrm>
          <a:prstGeom prst="rect">
            <a:avLst/>
          </a:prstGeom>
          <a:solidFill>
            <a:srgbClr val="FFC10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18-35 ans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jeunes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: 1, 5, 13, 14, 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Electorat plus volatile, sensible aux themes emploi et logement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234440"/>
            <a:ext cx="914400" cy="274320"/>
          </a:xfrm>
          <a:prstGeom prst="rect">
            <a:avLst/>
          </a:prstGeom>
          <a:solidFill>
            <a:srgbClr val="9C27B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66-80 ans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seniors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: 6, 7, 8, 9,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vote conservateur, sensibles aux themes sante et securite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3063240"/>
            <a:ext cx="914400" cy="274320"/>
          </a:xfrm>
          <a:prstGeom prst="rect">
            <a:avLst/>
          </a:prstGeom>
          <a:solidFill>
            <a:srgbClr val="FF980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36-65 ans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actifs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: 2, 14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intermediaires, enjeux pouvoir d'achat et services publics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3063240"/>
            <a:ext cx="914400" cy="274320"/>
          </a:xfrm>
          <a:prstGeom prst="rect">
            <a:avLst/>
          </a:prstGeom>
          <a:solidFill>
            <a:srgbClr val="2196F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80+ ans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tres ages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: 4, 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Historiquement gauche, potentiel de basculement important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strategiques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0789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dynamique RN locale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389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 qualitatif pour mesurer la mobilisation RN attendue. C'est la variable qui determine tout.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148840"/>
            <a:ext cx="548640" cy="41148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48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39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le terrain sur les 7 bureaux swing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350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l'electorat dans les bureaux 4, 17, 12, 5, 11, 16, 7. Maximiser la presence terrain.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548640" cy="4114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4 = micro-cible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310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fort potentiel de basculement: haute volatilite (7.4), score Grelet 2020 le plus bas (58%).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69080"/>
            <a:ext cx="548640" cy="411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959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d'entre-deux-tours decisive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270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scenarios donnent un 2nd tour. Preparer les alliances et les reports des maintenant.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DataRealis — donnees electorales exactes 2019-2024, INSEE 72154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55648"/>
            <a:ext cx="73152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8013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2 000 iterations, echantillonnage Dirichlet, Bayesian updating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05456"/>
            <a:ext cx="73152" cy="59436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511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55117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reports basees sur correlations ecologiques bureau par bureau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55264"/>
            <a:ext cx="73152" cy="59436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009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3009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Calculee sur 5 elections T1 (ecart-type reel par bloc et par bureau)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05072"/>
            <a:ext cx="73152" cy="5943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50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40507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reports sont des hypotheses, pas des mesures. Le contexte local 2026 peut changer la donne.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 La Fleche 2026 — Analyse generee par simulation Monte Carlo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702</Words>
  <Application>Microsoft Office PowerPoint</Application>
  <PresentationFormat>Affichage à l'écran (16:9)</PresentationFormat>
  <Paragraphs>181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Municipales La Fleche 2026 - Analyse Prospective</dc:title>
  <dc:subject>PptxGenJS Presentation</dc:subject>
  <dc:creator>Elections La Fleche 2026</dc:creator>
  <cp:lastModifiedBy>Philippe</cp:lastModifiedBy>
  <cp:revision>2</cp:revision>
  <dcterms:created xsi:type="dcterms:W3CDTF">2026-03-14T11:14:34Z</dcterms:created>
  <dcterms:modified xsi:type="dcterms:W3CDTF">2026-03-14T12:29:36Z</dcterms:modified>
</cp:coreProperties>
</file>